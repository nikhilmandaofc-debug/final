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8" r:id="rId4"/>
    <p:sldId id="265" r:id="rId5"/>
    <p:sldId id="274" r:id="rId6"/>
    <p:sldId id="267" r:id="rId7"/>
    <p:sldId id="273" r:id="rId8"/>
    <p:sldId id="261" r:id="rId9"/>
    <p:sldId id="262" r:id="rId10"/>
    <p:sldId id="263" r:id="rId11"/>
    <p:sldId id="264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107B0-91A8-432B-830A-8C7F6E75A425}" v="199" dt="2026-03-06T08:56:36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9.pn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1304925"/>
            <a:ext cx="533386" cy="533399"/>
          </a:xfrm>
          <a:prstGeom prst="roundRect">
            <a:avLst>
              <a:gd name="adj" fmla="val 57142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555" y="1460823"/>
            <a:ext cx="285742" cy="2216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14417" y="1304925"/>
            <a:ext cx="533386" cy="533399"/>
          </a:xfrm>
          <a:prstGeom prst="roundRect">
            <a:avLst>
              <a:gd name="adj" fmla="val 57142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39" y="1460823"/>
            <a:ext cx="285742" cy="2216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066924"/>
            <a:ext cx="6029174" cy="1476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1300"/>
              </a:spcAft>
            </a:pPr>
            <a:r>
              <a:rPr sz="3707" b="1">
                <a:solidFill>
                  <a:srgbClr val="0C4A6E"/>
                </a:solidFill>
                <a:latin typeface="Poppins"/>
              </a:rPr>
              <a:t>MIRA AI Triage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33" y="3733799"/>
            <a:ext cx="914377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6733" y="4019549"/>
            <a:ext cx="602917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080"/>
              </a:spcAft>
            </a:pPr>
            <a:r>
              <a:rPr sz="1435" b="0">
                <a:solidFill>
                  <a:srgbClr val="334155"/>
                </a:solidFill>
                <a:latin typeface="Inter"/>
              </a:rPr>
              <a:t>Medical Intelligent Response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4629150"/>
            <a:ext cx="5486262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75569"/>
                </a:solidFill>
                <a:latin typeface="Inter"/>
              </a:rPr>
              <a:t>AI-powered platform designed to help hospitals classify and prioritize patients efficiently using configurable triage rules and intelligent decision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76898" y="1523999"/>
            <a:ext cx="3733706" cy="1143000"/>
          </a:xfrm>
          <a:prstGeom prst="roundRect">
            <a:avLst>
              <a:gd name="adj" fmla="val 26666"/>
            </a:avLst>
          </a:prstGeom>
          <a:solidFill>
            <a:srgbClr val="0EA5E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571438" y="202945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3591" y="1823454"/>
            <a:ext cx="285742" cy="201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43631" y="1790700"/>
            <a:ext cx="18382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Real-time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591" y="2209800"/>
            <a:ext cx="32384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Instant patient vitals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6898" y="2857500"/>
            <a:ext cx="3733706" cy="1143000"/>
          </a:xfrm>
          <a:prstGeom prst="roundRect">
            <a:avLst>
              <a:gd name="adj" fmla="val 26666"/>
            </a:avLst>
          </a:prstGeom>
          <a:solidFill>
            <a:srgbClr val="06B6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571438" y="3362960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3591" y="3151122"/>
            <a:ext cx="285742" cy="2128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43631" y="3124200"/>
            <a:ext cx="19716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Smart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591" y="3543300"/>
            <a:ext cx="32384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AI-driven severity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6898" y="4190999"/>
            <a:ext cx="3733706" cy="1143000"/>
          </a:xfrm>
          <a:prstGeom prst="roundRect">
            <a:avLst>
              <a:gd name="adj" fmla="val 26666"/>
            </a:avLst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571438" y="469645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3591" y="4468585"/>
            <a:ext cx="285742" cy="244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43631" y="4457700"/>
            <a:ext cx="142871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Efficient 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3591" y="4876800"/>
            <a:ext cx="32384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Optimized resource allocation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33866" y="238124"/>
            <a:ext cx="619109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78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The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3866" y="828675"/>
            <a:ext cx="761980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3866" y="981074"/>
            <a:ext cx="61910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4748B"/>
                </a:solidFill>
                <a:latin typeface="Inter"/>
              </a:rPr>
              <a:t>Hospitals face major operational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3866" y="1628775"/>
            <a:ext cx="300029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533886" y="18288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609" y="1978672"/>
            <a:ext cx="285742" cy="1574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3886" y="2400300"/>
            <a:ext cx="26002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Overcrowded 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3886" y="2743200"/>
            <a:ext cx="260025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Emergency departments overwhelmed with patient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24661" y="1628775"/>
            <a:ext cx="300029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24681" y="18288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0404" y="1936393"/>
            <a:ext cx="285742" cy="2420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24681" y="2400300"/>
            <a:ext cx="26002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Staff Shortages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4681" y="2743200"/>
            <a:ext cx="260025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Insufficient medical professionals 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3866" y="3590924"/>
            <a:ext cx="300029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33886" y="37909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9609" y="3897085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3886" y="4362450"/>
            <a:ext cx="26002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Delayed Identification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3886" y="4705350"/>
            <a:ext cx="260025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Critical patients not identified quickly enough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24661" y="3590924"/>
            <a:ext cx="300029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24681" y="37909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0404" y="3902917"/>
            <a:ext cx="285742" cy="23326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24681" y="4362450"/>
            <a:ext cx="26002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Inefficient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4681" y="4705350"/>
            <a:ext cx="2600259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Manual processes lead to poor resource allocation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3866" y="5667374"/>
            <a:ext cx="6191095" cy="952499"/>
          </a:xfrm>
          <a:prstGeom prst="roundRect">
            <a:avLst>
              <a:gd name="adj" fmla="val 24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923657" y="6077583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62460" y="5857875"/>
            <a:ext cx="577200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0C4A6E"/>
                </a:solidFill>
                <a:latin typeface="Inter"/>
              </a:rPr>
              <a:t> These issues lead to slower treatment and poor resource allocation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7640" y="6044687"/>
            <a:ext cx="228594" cy="194309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7E10A7-CA21-FB4A-C80E-76FB002DC4AA}"/>
              </a:ext>
            </a:extLst>
          </p:cNvPr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EFEFE">
                  <a:alpha val="10000"/>
                </a:srgbClr>
              </a:gs>
              <a:gs pos="100000">
                <a:srgbClr val="FEFEFE">
                  <a:alpha val="9500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8806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157158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76350"/>
            <a:ext cx="512432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780"/>
              </a:spcAft>
            </a:pPr>
            <a:r>
              <a:rPr sz="1913" b="1">
                <a:solidFill>
                  <a:srgbClr val="0C4A6E"/>
                </a:solidFill>
                <a:latin typeface="Poppins"/>
              </a:rPr>
              <a:t>MIRA AI Triage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771650"/>
            <a:ext cx="609584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733" y="1924049"/>
            <a:ext cx="5124321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4748B"/>
                </a:solidFill>
                <a:latin typeface="Inter"/>
              </a:rPr>
              <a:t>AI-assisted healthcare solution for intelligent patient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762249"/>
            <a:ext cx="5124321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6753" y="29527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3079296"/>
            <a:ext cx="285742" cy="204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76338" y="2952750"/>
            <a:ext cx="269550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Automatic Vitals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3257550"/>
            <a:ext cx="269550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Real-time patient vital sign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848099"/>
            <a:ext cx="5124321" cy="1009649"/>
          </a:xfrm>
          <a:prstGeom prst="roundRect">
            <a:avLst>
              <a:gd name="adj" fmla="val 22641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6753" y="40385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76" y="4144735"/>
            <a:ext cx="285742" cy="244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76338" y="4038599"/>
            <a:ext cx="41146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Severity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6338" y="4381499"/>
            <a:ext cx="676258" cy="266699"/>
          </a:xfrm>
          <a:prstGeom prst="roundRect">
            <a:avLst>
              <a:gd name="adj" fmla="val 57142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76338" y="4381499"/>
            <a:ext cx="6762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28794" y="4381499"/>
            <a:ext cx="838179" cy="266699"/>
          </a:xfrm>
          <a:prstGeom prst="roundRect">
            <a:avLst>
              <a:gd name="adj" fmla="val 57142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28794" y="4381499"/>
            <a:ext cx="838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</a:rPr>
              <a:t>Moderate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2696" y="4381499"/>
            <a:ext cx="628634" cy="266699"/>
          </a:xfrm>
          <a:prstGeom prst="roundRect">
            <a:avLst>
              <a:gd name="adj" fmla="val 57142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2696" y="4381499"/>
            <a:ext cx="6286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</a:rPr>
              <a:t>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10149"/>
            <a:ext cx="5124321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6753" y="52006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5306785"/>
            <a:ext cx="285742" cy="244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76338" y="5200650"/>
            <a:ext cx="30860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Resource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6338" y="5505450"/>
            <a:ext cx="30860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Intelligent assignment of doctors and wards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639" y="1219200"/>
            <a:ext cx="512432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Process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639" y="1562100"/>
            <a:ext cx="457188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72145" y="1828800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1690" y="2088602"/>
            <a:ext cx="342891" cy="2423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639" y="2705099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C4A6E"/>
                </a:solidFill>
                <a:latin typeface="Poppins"/>
              </a:rPr>
              <a:t>Patient Vitals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639" y="2971800"/>
            <a:ext cx="230499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</a:rPr>
              <a:t>Data Input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9929" y="2374446"/>
            <a:ext cx="285742" cy="20410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991475" y="1828800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01019" y="2076778"/>
            <a:ext cx="342891" cy="26604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19969" y="2705099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C4A6E"/>
                </a:solidFill>
                <a:latin typeface="Poppins"/>
              </a:rPr>
              <a:t>AI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9969" y="2971800"/>
            <a:ext cx="230499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</a:rPr>
              <a:t>Intelligent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2145" y="3429000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14B8A6"/>
              </a:gs>
              <a:gs pos="100000">
                <a:srgbClr val="10B981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81690" y="3703582"/>
            <a:ext cx="342891" cy="21283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00639" y="430530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C4A6E"/>
                </a:solidFill>
                <a:latin typeface="Poppins"/>
              </a:rPr>
              <a:t>Severity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639" y="4572000"/>
            <a:ext cx="230499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</a:rPr>
              <a:t>Priority Level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19929" y="3974646"/>
            <a:ext cx="285742" cy="204107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9991475" y="3429000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01019" y="3676978"/>
            <a:ext cx="342891" cy="26604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219969" y="4305300"/>
            <a:ext cx="23049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C4A6E"/>
                </a:solidFill>
                <a:latin typeface="Poppins"/>
              </a:rPr>
              <a:t>Resource Allocation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9969" y="4572000"/>
            <a:ext cx="230499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</a:rPr>
              <a:t>Assignment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639" y="5105400"/>
            <a:ext cx="5124321" cy="876299"/>
          </a:xfrm>
          <a:prstGeom prst="roundRect">
            <a:avLst>
              <a:gd name="adj" fmla="val 26086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028530" y="5477509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9234" y="5295899"/>
            <a:ext cx="4705232" cy="4952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C4A6E"/>
                </a:solidFill>
                <a:latin typeface="Inter"/>
              </a:rPr>
              <a:t> Automated workflow ensures faster and more accurate patient prioritization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29234" y="5348007"/>
            <a:ext cx="190495" cy="16248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420041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Operational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57300"/>
            <a:ext cx="2076398" cy="4762500"/>
          </a:xfrm>
          <a:prstGeom prst="roundRect">
            <a:avLst>
              <a:gd name="adj" fmla="val 11009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00139" y="1466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57308" y="1600200"/>
            <a:ext cx="10477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EA5E9"/>
                </a:solidFill>
                <a:latin typeface="Poppin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00139" y="22288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2060" y="2411185"/>
            <a:ext cx="285742" cy="244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29" y="2990849"/>
            <a:ext cx="1771605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Administrator Defines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3638550"/>
            <a:ext cx="177160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Admin configures triage classification logic using AI-powered rule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129" y="5524499"/>
            <a:ext cx="1771605" cy="342900"/>
          </a:xfrm>
          <a:prstGeom prst="roundRect">
            <a:avLst>
              <a:gd name="adj" fmla="val 44444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129" y="5524499"/>
            <a:ext cx="177160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EA5E9"/>
                </a:solidFill>
                <a:latin typeface="Inter"/>
              </a:rPr>
              <a:t>Configuration Phase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428" y="1257300"/>
            <a:ext cx="2076398" cy="4762500"/>
          </a:xfrm>
          <a:prstGeom prst="roundRect">
            <a:avLst>
              <a:gd name="adj" fmla="val 11009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00359" y="1466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9429" y="1600200"/>
            <a:ext cx="16192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6B6D4"/>
                </a:solidFill>
                <a:latin typeface="Poppin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359" y="22288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280" y="2411185"/>
            <a:ext cx="285742" cy="244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09824" y="2990849"/>
            <a:ext cx="1771605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Patient Vitals Entered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9824" y="3638550"/>
            <a:ext cx="1771605" cy="9905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Manager inputs patient vital signs and symptoms into the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9824" y="5524499"/>
            <a:ext cx="1771605" cy="342900"/>
          </a:xfrm>
          <a:prstGeom prst="roundRect">
            <a:avLst>
              <a:gd name="adj" fmla="val 44444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9824" y="5524499"/>
            <a:ext cx="177160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6B6D4"/>
                </a:solidFill>
                <a:latin typeface="Inter"/>
              </a:rPr>
              <a:t>Data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7648" y="1257300"/>
            <a:ext cx="2076398" cy="4762500"/>
          </a:xfrm>
          <a:prstGeom prst="roundRect">
            <a:avLst>
              <a:gd name="adj" fmla="val 11009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91055" y="1466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0124" y="1600200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4B8A6"/>
                </a:solidFill>
                <a:latin typeface="Poppin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1055" y="22288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14B8A6"/>
              </a:gs>
              <a:gs pos="100000">
                <a:srgbClr val="10B981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2976" y="2422848"/>
            <a:ext cx="285742" cy="2216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10044" y="2990849"/>
            <a:ext cx="1771605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AI Evaluates Condition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0044" y="3638550"/>
            <a:ext cx="177160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AI models analyze patient data and apply triage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0044" y="5524499"/>
            <a:ext cx="1771605" cy="342900"/>
          </a:xfrm>
          <a:prstGeom prst="roundRect">
            <a:avLst>
              <a:gd name="adj" fmla="val 44444"/>
            </a:avLst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0044" y="5524499"/>
            <a:ext cx="177160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Inter"/>
              </a:rPr>
              <a:t>AI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48343" y="1257300"/>
            <a:ext cx="2076398" cy="4762500"/>
          </a:xfrm>
          <a:prstGeom prst="roundRect">
            <a:avLst>
              <a:gd name="adj" fmla="val 11009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81750" y="1466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91295" y="1600200"/>
            <a:ext cx="1904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EA5E9"/>
                </a:solidFill>
                <a:latin typeface="Poppin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81750" y="22288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3671" y="2411185"/>
            <a:ext cx="285742" cy="2449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0739" y="2990849"/>
            <a:ext cx="17716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Patient Categorized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0739" y="3371850"/>
            <a:ext cx="177160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System assigns severity level: Critical, Moderate, or Stable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3116" y="5638799"/>
            <a:ext cx="542911" cy="2286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53116" y="5638799"/>
            <a:ext cx="54291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2225" y="5638799"/>
            <a:ext cx="676258" cy="22860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72225" y="5638799"/>
            <a:ext cx="6762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</a:rPr>
              <a:t>Moderate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24681" y="5638799"/>
            <a:ext cx="495287" cy="22860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24681" y="5638799"/>
            <a:ext cx="49528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</a:rPr>
              <a:t>Stable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8563" y="1257300"/>
            <a:ext cx="2076398" cy="4762500"/>
          </a:xfrm>
          <a:prstGeom prst="roundRect">
            <a:avLst>
              <a:gd name="adj" fmla="val 11009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181970" y="1466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91515" y="1600200"/>
            <a:ext cx="1904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6B6D4"/>
                </a:solidFill>
                <a:latin typeface="Poppins"/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81970" y="2228850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43891" y="2422848"/>
            <a:ext cx="285742" cy="22160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600959" y="2990849"/>
            <a:ext cx="17716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Dashboard Display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0959" y="3371850"/>
            <a:ext cx="1771605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Manager views prioritized patient list with actionable insights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0959" y="5524499"/>
            <a:ext cx="1771605" cy="342900"/>
          </a:xfrm>
          <a:prstGeom prst="roundRect">
            <a:avLst>
              <a:gd name="adj" fmla="val 44444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0959" y="5524499"/>
            <a:ext cx="177160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6B6D4"/>
                </a:solidFill>
                <a:latin typeface="Inter"/>
              </a:rPr>
              <a:t>Action Phase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2089D-08B5-51D7-3782-08E0A122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DF753A-CC74-A434-F84D-FCAC7C1399C8}"/>
              </a:ext>
            </a:extLst>
          </p:cNvPr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20E4F-F997-DC86-62B4-2F78BD94A5AB}"/>
              </a:ext>
            </a:extLst>
          </p:cNvPr>
          <p:cNvSpPr txBox="1"/>
          <p:nvPr/>
        </p:nvSpPr>
        <p:spPr>
          <a:xfrm>
            <a:off x="633603" y="225887"/>
            <a:ext cx="2103396" cy="569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</a:pPr>
            <a:r>
              <a:rPr lang="en-US" sz="2350" b="1" dirty="0">
                <a:solidFill>
                  <a:srgbClr val="0C4A6E"/>
                </a:solidFill>
                <a:latin typeface="Poppins"/>
              </a:rPr>
              <a:t>Architecture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A994D0-66DE-191E-71CD-EB29EA7BB67E}"/>
              </a:ext>
            </a:extLst>
          </p:cNvPr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 diagram of data warehouse&#10;&#10;AI-generated content may be incorrect.">
            <a:extLst>
              <a:ext uri="{FF2B5EF4-FFF2-40B4-BE49-F238E27FC236}">
                <a16:creationId xmlns:a16="http://schemas.microsoft.com/office/drawing/2014/main" id="{C082DDF4-F9D9-75C3-2BEA-388EE393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2" r="63" b="113"/>
          <a:stretch>
            <a:fillRect/>
          </a:stretch>
        </p:blipFill>
        <p:spPr>
          <a:xfrm>
            <a:off x="1556440" y="1284908"/>
            <a:ext cx="8687087" cy="463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4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8820" y="235778"/>
            <a:ext cx="341938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066799"/>
            <a:ext cx="3467013" cy="5143500"/>
          </a:xfrm>
          <a:prstGeom prst="roundRect">
            <a:avLst>
              <a:gd name="adj" fmla="val 6593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27" y="13525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9149" y="1517196"/>
            <a:ext cx="285742" cy="204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1110" y="1466849"/>
            <a:ext cx="106677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27" y="21145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347072"/>
            <a:ext cx="190495" cy="106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2516" y="2266950"/>
            <a:ext cx="5048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23" y="26098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Modern component-based UI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31051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23" y="3309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16" y="3257550"/>
            <a:ext cx="111439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23" y="36004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Utility-first styling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40957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430025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2516" y="4248150"/>
            <a:ext cx="12763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Framer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23" y="45910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Smooth animations &amp; transitions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50863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23" y="5310467"/>
            <a:ext cx="190495" cy="1232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52516" y="5238749"/>
            <a:ext cx="7810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Recharts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23" y="5581649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Interactive data visualization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1066799"/>
            <a:ext cx="3467013" cy="5143500"/>
          </a:xfrm>
          <a:prstGeom prst="roundRect">
            <a:avLst>
              <a:gd name="adj" fmla="val 6593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90935" y="13525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14757" y="1517196"/>
            <a:ext cx="285742" cy="2041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76718" y="1466849"/>
            <a:ext cx="10381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935" y="21145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6B6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3331" y="231065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48123" y="2266950"/>
            <a:ext cx="63815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3331" y="26098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High-performance Python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0935" y="31051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6B6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43331" y="3376923"/>
            <a:ext cx="190495" cy="2795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48123" y="3257550"/>
            <a:ext cx="109534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SQLAlchemy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3331" y="36004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ORM for database 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90935" y="40957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6B6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3331" y="4294654"/>
            <a:ext cx="190495" cy="17369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48123" y="4248150"/>
            <a:ext cx="77150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Pydantic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3331" y="45910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Data validation &amp; settings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90935" y="50863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06B6D4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43331" y="5302063"/>
            <a:ext cx="190495" cy="14007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48123" y="5238749"/>
            <a:ext cx="5333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SQLite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3331" y="5581649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Lightweight embedded database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57948" y="1066799"/>
            <a:ext cx="3467013" cy="5143500"/>
          </a:xfrm>
          <a:prstGeom prst="roundRect">
            <a:avLst>
              <a:gd name="adj" fmla="val 6593"/>
            </a:avLst>
          </a:prstGeom>
          <a:solidFill>
            <a:srgbClr val="FFFFFF">
              <a:alpha val="90000"/>
            </a:srgbClr>
          </a:solidFill>
          <a:ln w="412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86542" y="13525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10364" y="1508448"/>
            <a:ext cx="285742" cy="22160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72325" y="1466849"/>
            <a:ext cx="93342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AI Layer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6542" y="21145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38939" y="2310652"/>
            <a:ext cx="190495" cy="17929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743731" y="2266950"/>
            <a:ext cx="65720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GPT-4o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8939" y="26098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Advanced reasoning &amp; explanations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86542" y="31051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38939" y="3309657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43731" y="3257550"/>
            <a:ext cx="10572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GPT-4o Mini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8939" y="36004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Fast inference &amp; lightweight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86542" y="4095749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438939" y="4305860"/>
            <a:ext cx="190495" cy="1512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743731" y="4248150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DeepSeek R1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8939" y="4591050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Structured reasoning engine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86542" y="5086350"/>
            <a:ext cx="3009824" cy="838200"/>
          </a:xfrm>
          <a:prstGeom prst="roundRect">
            <a:avLst>
              <a:gd name="adj" fmla="val 18181"/>
            </a:avLst>
          </a:prstGeom>
          <a:solidFill>
            <a:srgbClr val="14B8A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438939" y="5296460"/>
            <a:ext cx="190495" cy="15127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743731" y="5238749"/>
            <a:ext cx="113344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DeepSeek V3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8939" y="5581649"/>
            <a:ext cx="27050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Analytical reasoning &amp; insights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A2AF7-0791-5A2F-D5E2-B54420BD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B85B4-D601-5C64-3BA8-7854B929E339}"/>
              </a:ext>
            </a:extLst>
          </p:cNvPr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C627E-0916-03DA-EF7B-E97A40A34CD8}"/>
              </a:ext>
            </a:extLst>
          </p:cNvPr>
          <p:cNvSpPr txBox="1"/>
          <p:nvPr/>
        </p:nvSpPr>
        <p:spPr>
          <a:xfrm>
            <a:off x="633603" y="225887"/>
            <a:ext cx="1943096" cy="56919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3900"/>
              </a:lnSpc>
            </a:pPr>
            <a:r>
              <a:rPr lang="en-US" sz="2350" b="1" dirty="0">
                <a:solidFill>
                  <a:srgbClr val="0C4A6E"/>
                </a:solidFill>
                <a:latin typeface="Poppins"/>
              </a:rPr>
              <a:t>ER Diagram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99ABE0-BD4B-C651-9D56-C3EDDECDF185}"/>
              </a:ext>
            </a:extLst>
          </p:cNvPr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A diagram of a patient&#10;&#10;AI-generated content may be incorrect.">
            <a:extLst>
              <a:ext uri="{FF2B5EF4-FFF2-40B4-BE49-F238E27FC236}">
                <a16:creationId xmlns:a16="http://schemas.microsoft.com/office/drawing/2014/main" id="{5973AB03-C293-7B42-E168-8E67B984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8" t="1374" b="114"/>
          <a:stretch>
            <a:fillRect/>
          </a:stretch>
        </p:blipFill>
        <p:spPr>
          <a:xfrm>
            <a:off x="1597845" y="1335334"/>
            <a:ext cx="8517982" cy="47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2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406707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AI Models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809625"/>
            <a:ext cx="3419389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 w="1651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377" y="1057275"/>
            <a:ext cx="533386" cy="533399"/>
          </a:xfrm>
          <a:prstGeom prst="roundRect">
            <a:avLst>
              <a:gd name="adj" fmla="val 42857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1189847"/>
            <a:ext cx="285742" cy="2682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060" y="1076325"/>
            <a:ext cx="131441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060" y="1381124"/>
            <a:ext cx="131441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Advanced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77" y="2152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7723" y="2047874"/>
            <a:ext cx="225736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Natural language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7" y="24955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7723" y="2390774"/>
            <a:ext cx="174303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Prompt interpretation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77" y="2838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7723" y="2733674"/>
            <a:ext cx="23716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Structured output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6618" y="809625"/>
            <a:ext cx="3419389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4261" y="1057275"/>
            <a:ext cx="533386" cy="533399"/>
          </a:xfrm>
          <a:prstGeom prst="roundRect">
            <a:avLst>
              <a:gd name="adj" fmla="val 42857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1201510"/>
            <a:ext cx="285742" cy="244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71945" y="1076325"/>
            <a:ext cx="142871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GPT-4o 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1945" y="1381124"/>
            <a:ext cx="142871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Fast &amp; Efficient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4261" y="2152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57608" y="2047874"/>
            <a:ext cx="17811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Lightweight 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4261" y="24955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57608" y="2390774"/>
            <a:ext cx="167635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Quick 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4261" y="28384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7608" y="2733674"/>
            <a:ext cx="23907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Real-time dashboard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733799"/>
            <a:ext cx="3419389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 w="1651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377" y="3981449"/>
            <a:ext cx="533386" cy="533399"/>
          </a:xfrm>
          <a:prstGeom prst="roundRect">
            <a:avLst>
              <a:gd name="adj" fmla="val 42857"/>
            </a:avLst>
          </a:prstGeom>
          <a:gradFill rotWithShape="1">
            <a:gsLst>
              <a:gs pos="0">
                <a:srgbClr val="14B8A6"/>
              </a:gs>
              <a:gs pos="100000">
                <a:srgbClr val="10B981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199" y="4137348"/>
            <a:ext cx="285742" cy="2216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62060" y="4000500"/>
            <a:ext cx="144776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DeepSeek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060" y="4305300"/>
            <a:ext cx="14477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Structured Logic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377" y="50768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7723" y="4972050"/>
            <a:ext cx="18001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Rule-based reasoning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377" y="54197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7723" y="5314950"/>
            <a:ext cx="20382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Decision logic evaluation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377" y="57626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7723" y="5657850"/>
            <a:ext cx="22668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Symptom-to-ward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6618" y="3733799"/>
            <a:ext cx="3419389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 w="1651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24261" y="3981449"/>
            <a:ext cx="533386" cy="533399"/>
          </a:xfrm>
          <a:prstGeom prst="roundRect">
            <a:avLst>
              <a:gd name="adj" fmla="val 42857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083" y="4137348"/>
            <a:ext cx="285742" cy="22160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171945" y="4000500"/>
            <a:ext cx="152396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DeepSeek V3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71945" y="4305300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Advanced Analysis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4261" y="50768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57608" y="4972050"/>
            <a:ext cx="16668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Analytical reasoning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4261" y="54197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57608" y="5314950"/>
            <a:ext cx="2238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Multi-step logic processing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24261" y="5762625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57608" y="5657850"/>
            <a:ext cx="198115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Detailed clinical 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324" y="1924049"/>
            <a:ext cx="351463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Multi-Model Strategy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0324" y="2266950"/>
            <a:ext cx="457188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010324" y="2495550"/>
            <a:ext cx="3514637" cy="1123949"/>
          </a:xfrm>
          <a:prstGeom prst="roundRect">
            <a:avLst>
              <a:gd name="adj" fmla="val 20338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514390" y="2991484"/>
            <a:ext cx="11239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38919" y="2686050"/>
            <a:ext cx="3095547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Different tasks require different AI strengths — reasoning, speed, or structured analysis.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0324" y="3846195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53216" y="3771900"/>
            <a:ext cx="20382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216" y="4038599"/>
            <a:ext cx="2038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Specialized models for each task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10324" y="4433411"/>
            <a:ext cx="228594" cy="16287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353216" y="4343400"/>
            <a:ext cx="16096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Performance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3216" y="4610099"/>
            <a:ext cx="16096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Optimized response times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0324" y="5000625"/>
            <a:ext cx="228594" cy="17145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353216" y="4914900"/>
            <a:ext cx="17049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Scalability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53216" y="5181599"/>
            <a:ext cx="17049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Flexible architecture design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646731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Why &amp; Where: Model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809625"/>
            <a:ext cx="5333866" cy="2514600"/>
          </a:xfrm>
          <a:prstGeom prst="roundRect">
            <a:avLst>
              <a:gd name="adj" fmla="val 909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08017" y="1984375"/>
            <a:ext cx="2514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2951" y="1038224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7248" y="1178242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038224"/>
            <a:ext cx="126679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DeepSeek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4437" y="1304925"/>
            <a:ext cx="126679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Generate AI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51" y="1609724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Purpose: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51" y="19145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Patient condition explanation &amp; medical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2951" y="2257425"/>
            <a:ext cx="482905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7248" y="2371725"/>
            <a:ext cx="4600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C4A6E"/>
                </a:solidFill>
                <a:latin typeface="Inter"/>
              </a:rPr>
              <a:t>Example Use Case: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48" y="2600325"/>
            <a:ext cx="460045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"Patient classified as Critical due to low oxygen levels and elevated heart rate indicating respiratory distress."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095" y="809625"/>
            <a:ext cx="5333866" cy="2514600"/>
          </a:xfrm>
          <a:prstGeom prst="roundRect">
            <a:avLst>
              <a:gd name="adj" fmla="val 909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016345" y="1984375"/>
            <a:ext cx="2514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67313" y="1038224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610" y="1158240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38799" y="1038224"/>
            <a:ext cx="152396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GPT-4o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8799" y="1304925"/>
            <a:ext cx="152396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Create Rule from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313" y="1609724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Purpose: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313" y="19145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Convert natural language into structured triage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7313" y="2257425"/>
            <a:ext cx="4829054" cy="838200"/>
          </a:xfrm>
          <a:prstGeom prst="roundRect">
            <a:avLst>
              <a:gd name="adj" fmla="val 18181"/>
            </a:avLst>
          </a:prstGeom>
          <a:solidFill>
            <a:srgbClr val="06B6D4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1610" y="2371725"/>
            <a:ext cx="4600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C4A6E"/>
                </a:solidFill>
                <a:latin typeface="Inter"/>
              </a:rPr>
              <a:t>Example Use Case: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610" y="2600325"/>
            <a:ext cx="460045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"If oxygen level drops below 88 assign ICU" → Condition: oxygen &lt; 88, Severity: Critical, Ward: ICU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514725"/>
            <a:ext cx="5333866" cy="2514600"/>
          </a:xfrm>
          <a:prstGeom prst="roundRect">
            <a:avLst>
              <a:gd name="adj" fmla="val 909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-508017" y="4689475"/>
            <a:ext cx="2514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2951" y="3743325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4B8A6"/>
              </a:gs>
              <a:gs pos="100000">
                <a:srgbClr val="10B981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3883342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14437" y="3743325"/>
            <a:ext cx="20859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DeepSeek 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4437" y="4010024"/>
            <a:ext cx="208592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Assign Ward Based on Symptoms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51" y="43148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Purpose: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51" y="46196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Perform structured decision logic for patient placement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951" y="4962525"/>
            <a:ext cx="4829054" cy="838200"/>
          </a:xfrm>
          <a:prstGeom prst="roundRect">
            <a:avLst>
              <a:gd name="adj" fmla="val 18181"/>
            </a:avLst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7248" y="5076825"/>
            <a:ext cx="4600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C4A6E"/>
                </a:solidFill>
                <a:latin typeface="Inter"/>
              </a:rPr>
              <a:t>Example Use Case: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248" y="5305425"/>
            <a:ext cx="460045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Symptoms: Chest pain, Low oxygen, High heart rate → Severity: Critical, Ward: ICU, Doctor: Cardiologist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1095" y="3514725"/>
            <a:ext cx="5333866" cy="2514600"/>
          </a:xfrm>
          <a:prstGeom prst="roundRect">
            <a:avLst>
              <a:gd name="adj" fmla="val 909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016345" y="4689475"/>
            <a:ext cx="2514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67313" y="3743325"/>
            <a:ext cx="457188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1610" y="3874770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38799" y="3743325"/>
            <a:ext cx="153348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GPT-4o Mini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8799" y="4010024"/>
            <a:ext cx="153348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Patient Insight in 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7313" y="43148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0C4A6E"/>
                </a:solidFill>
                <a:latin typeface="Inter"/>
              </a:rPr>
              <a:t>Purpose: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7313" y="4619625"/>
            <a:ext cx="482905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Quick AI explanations in Patient Monitor dashboard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67313" y="4962525"/>
            <a:ext cx="4829054" cy="838200"/>
          </a:xfrm>
          <a:prstGeom prst="roundRect">
            <a:avLst>
              <a:gd name="adj" fmla="val 18181"/>
            </a:avLst>
          </a:prstGeom>
          <a:solidFill>
            <a:srgbClr val="0EA5E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1610" y="5076825"/>
            <a:ext cx="460045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0C4A6E"/>
                </a:solidFill>
                <a:latin typeface="Inter"/>
              </a:rPr>
              <a:t>Example Use Case: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1610" y="5305425"/>
            <a:ext cx="4600459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"Patient classified as Moderate because oxygen levels are stable but temperature is elevated indicating infection risk."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13083"/>
            <a:ext cx="39242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Administrator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243" y="1257300"/>
            <a:ext cx="52767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Admin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243" y="1600200"/>
            <a:ext cx="457188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48243" y="190499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857083" y="22961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6838" y="21335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91135" y="22650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422" y="2095499"/>
            <a:ext cx="39718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Configure Triage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422" y="2400300"/>
            <a:ext cx="39718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AI-powered rule engine for intelligent classification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243" y="2971800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857083" y="33629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6838" y="32004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33404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422" y="3162299"/>
            <a:ext cx="36194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Manage Hospital 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422" y="3467100"/>
            <a:ext cx="361940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Oversee ward assignments and resource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243" y="403859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857083" y="44297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76838" y="42671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1135" y="4424362"/>
            <a:ext cx="228594" cy="142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422" y="4229100"/>
            <a:ext cx="40480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Manage Doctors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422" y="4533900"/>
            <a:ext cx="40480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Coordinate medical staff assignments and specializations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243" y="5105400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857083" y="54965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76838" y="53340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5476875"/>
            <a:ext cx="228594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86422" y="5295899"/>
            <a:ext cx="394325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Export System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422" y="5600700"/>
            <a:ext cx="394325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Generate comprehensive analytics and operational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3B044A-25BE-75C8-F101-D799B22AD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60" y="1600935"/>
            <a:ext cx="5772562" cy="41659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79952"/>
            <a:ext cx="39718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Manager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243" y="1257300"/>
            <a:ext cx="527671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Dashboard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243" y="1600200"/>
            <a:ext cx="457188" cy="381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48243" y="190499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857083" y="22961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6838" y="21335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91135" y="2263616"/>
            <a:ext cx="228594" cy="1971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422" y="2095499"/>
            <a:ext cx="34193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Patient Intake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422" y="2400300"/>
            <a:ext cx="341938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Enter patient vitals and symptoms for AI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243" y="2971800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5857083" y="33629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6838" y="32004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334041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422" y="3162299"/>
            <a:ext cx="354321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Triage Classification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422" y="3467100"/>
            <a:ext cx="354321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AI-powered severity assessment and prioritization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243" y="403859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857083" y="442975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76838" y="42671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1135" y="4398645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422" y="4229100"/>
            <a:ext cx="28098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Severity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422" y="4533900"/>
            <a:ext cx="280980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Visual overview of patient priority levels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243" y="5105400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857083" y="54965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76838" y="53340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5479732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86422" y="5295899"/>
            <a:ext cx="26288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0C4A6E"/>
                </a:solidFill>
                <a:latin typeface="Poppins"/>
              </a:rPr>
              <a:t>Real-time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422" y="5600700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Track patient status and critical alerts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A screenshot of a medical application&#10;&#10;AI-generated content may be incorrect.">
            <a:extLst>
              <a:ext uri="{FF2B5EF4-FFF2-40B4-BE49-F238E27FC236}">
                <a16:creationId xmlns:a16="http://schemas.microsoft.com/office/drawing/2014/main" id="{88D6A946-EE8B-EFCD-9F9E-DBD2E209C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296" y="1259940"/>
            <a:ext cx="5673892" cy="4743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3298" y="379343"/>
            <a:ext cx="236214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768059"/>
            <a:ext cx="4989588" cy="3468205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33" y="2463798"/>
            <a:ext cx="5276718" cy="1869110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0C4A6E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243" y="158114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857083" y="197230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76838" y="17716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659" y="1937754"/>
            <a:ext cx="285742" cy="201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62620" y="1771650"/>
            <a:ext cx="346701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Faster Patient Prioritization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620" y="2076449"/>
            <a:ext cx="346701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AI-powered triage reduces decision time by 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243" y="264794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857083" y="303910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76838" y="28384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0659" y="2994348"/>
            <a:ext cx="285742" cy="2216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62620" y="2838450"/>
            <a:ext cx="39718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Improved Resource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620" y="3143250"/>
            <a:ext cx="397182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Intelligent assignment of doctors, wards, and equipment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3714750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857083" y="410591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76838" y="39052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0659" y="4049485"/>
            <a:ext cx="285742" cy="244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62620" y="3905249"/>
            <a:ext cx="30764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Reduced Treatment Delays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2620" y="4210049"/>
            <a:ext cx="307649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Critical patients identified and treated faster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4781549"/>
            <a:ext cx="527671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857083" y="517270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76838" y="49720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0659" y="5116285"/>
            <a:ext cx="285742" cy="244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62620" y="4972050"/>
            <a:ext cx="32384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C4A6E"/>
                </a:solidFill>
                <a:latin typeface="Poppins"/>
              </a:rPr>
              <a:t>AI-Powered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2620" y="5276850"/>
            <a:ext cx="32384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4748B"/>
                </a:solidFill>
                <a:latin typeface="Inter"/>
              </a:rPr>
              <a:t>Clinical decision support for healthcare teams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321936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C4A6E"/>
                </a:solidFill>
                <a:latin typeface="Poppins"/>
              </a:rP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009649"/>
            <a:ext cx="5314817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12779" y="2189161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2951" y="12382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6773" y="1382485"/>
            <a:ext cx="285742" cy="244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28734" y="1257300"/>
            <a:ext cx="180970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EHR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734" y="1562100"/>
            <a:ext cx="180970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Electronic Health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51" y="1924049"/>
            <a:ext cx="4810004" cy="1076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Connect with existing hospital EHR systems for seamless patient data synchronization and comprehensive medical history access.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51" y="3149727"/>
            <a:ext cx="133346" cy="1013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496" y="3105149"/>
            <a:ext cx="150491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EA5E9"/>
                </a:solidFill>
                <a:latin typeface="Inter"/>
              </a:rPr>
              <a:t>Phase 1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4" y="1009649"/>
            <a:ext cx="5314817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030632" y="2189161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86362" y="12382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184" y="1426222"/>
            <a:ext cx="285742" cy="1574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72145" y="1257300"/>
            <a:ext cx="278123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Predictive Risk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2145" y="1562100"/>
            <a:ext cx="278123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Proactive Patient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362" y="1924049"/>
            <a:ext cx="4810004" cy="1076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Identify patient risks before critical events occur using advanced AI predictive models and early warning indicators.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6362" y="3149727"/>
            <a:ext cx="133346" cy="10134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95907" y="3105149"/>
            <a:ext cx="10381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6B6D4"/>
                </a:solidFill>
                <a:latin typeface="Inter"/>
              </a:rPr>
              <a:t>AI Enhancement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752849"/>
            <a:ext cx="5314817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512779" y="4932361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2951" y="39814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6773" y="4125685"/>
            <a:ext cx="285742" cy="244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8734" y="4000500"/>
            <a:ext cx="216212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AI Clinical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8734" y="4305300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Treatment 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951" y="4667249"/>
            <a:ext cx="4810004" cy="1076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AI-powered clinical decision support providing treatment suggestions, drug interaction checks, and clinical alerts.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2951" y="5911976"/>
            <a:ext cx="133346" cy="1013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52496" y="5867399"/>
            <a:ext cx="123821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4B8A6"/>
                </a:solidFill>
                <a:latin typeface="Inter"/>
              </a:rPr>
              <a:t>Clinical Intelligence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3752849"/>
            <a:ext cx="5314817" cy="2524125"/>
          </a:xfrm>
          <a:prstGeom prst="roundRect">
            <a:avLst>
              <a:gd name="adj" fmla="val 9056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030632" y="4932361"/>
            <a:ext cx="252412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86362" y="39814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0184" y="4146096"/>
            <a:ext cx="285742" cy="20410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72145" y="4000500"/>
            <a:ext cx="298125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C4A6E"/>
                </a:solidFill>
                <a:latin typeface="Poppins"/>
              </a:rPr>
              <a:t>Real-time ICU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2145" y="4305300"/>
            <a:ext cx="298125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4748B"/>
                </a:solidFill>
                <a:latin typeface="Inter"/>
              </a:rPr>
              <a:t>Continuous Vital Signs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6362" y="4667249"/>
            <a:ext cx="4810004" cy="10763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</a:rPr>
              <a:t>IoT-enabled continuous monitoring of ICU patients with real-time vital signs streaming and automated alerts.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362" y="5911976"/>
            <a:ext cx="133346" cy="10134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95907" y="5867399"/>
            <a:ext cx="91437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EA5E9"/>
                </a:solidFill>
                <a:latin typeface="Inter"/>
              </a:rPr>
              <a:t>IoT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262" y="533399"/>
            <a:ext cx="1219169" cy="1219200"/>
          </a:xfrm>
          <a:prstGeom prst="roundRect">
            <a:avLst>
              <a:gd name="adj" fmla="val 15623437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91055" y="886968"/>
            <a:ext cx="609584" cy="512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38299" y="2362199"/>
            <a:ext cx="8115097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C4A6E"/>
                </a:solidFill>
                <a:latin typeface="Poppins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659" y="3257550"/>
            <a:ext cx="914377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38299" y="3619499"/>
            <a:ext cx="811509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334155"/>
                </a:solidFill>
                <a:latin typeface="Inter"/>
              </a:rPr>
              <a:t>See MIRA in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1210" y="4381499"/>
            <a:ext cx="1533486" cy="533399"/>
          </a:xfrm>
          <a:prstGeom prst="roundRect">
            <a:avLst>
              <a:gd name="adj" fmla="val 42857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04" y="455961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52696" y="4514850"/>
            <a:ext cx="73340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AI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291" y="4381499"/>
            <a:ext cx="2524061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885" y="45596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14777" y="4514850"/>
            <a:ext cx="172398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Real-time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95947" y="4381499"/>
            <a:ext cx="2514537" cy="533399"/>
          </a:xfrm>
          <a:prstGeom prst="roundRect">
            <a:avLst>
              <a:gd name="adj" fmla="val 42857"/>
            </a:avLst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4541" y="4566761"/>
            <a:ext cx="228594" cy="1628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67433" y="4514850"/>
            <a:ext cx="17144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C4A6E"/>
                </a:solidFill>
                <a:latin typeface="Inter"/>
              </a:rPr>
              <a:t>Instant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38299" y="5295899"/>
            <a:ext cx="8115097" cy="1038224"/>
          </a:xfrm>
          <a:prstGeom prst="roundRect">
            <a:avLst>
              <a:gd name="adj" fmla="val 29357"/>
            </a:avLst>
          </a:prstGeom>
          <a:solidFill>
            <a:srgbClr val="FFFFFF">
              <a:alpha val="90000"/>
            </a:srgbClr>
          </a:solidFill>
          <a:ln w="1651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38339" y="5505450"/>
            <a:ext cx="7315017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75569"/>
                </a:solidFill>
                <a:latin typeface="Inter"/>
              </a:rPr>
              <a:t>Experience real-time AI-powered patient classification and intelligent resource 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9FF"/>
            </a:gs>
            <a:gs pos="50000">
              <a:srgbClr val="FEFEFE"/>
            </a:gs>
            <a:gs pos="100000">
              <a:srgbClr val="ECFDF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30000">
                <a:srgbClr val="06B6D4"/>
              </a:gs>
              <a:gs pos="70000">
                <a:srgbClr val="14B8A6"/>
              </a:gs>
              <a:gs pos="100000">
                <a:srgbClr val="0EA5E9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19569" y="933449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EA5E9"/>
              </a:gs>
              <a:gs pos="100000">
                <a:srgbClr val="06B6D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71965" y="1139992"/>
            <a:ext cx="457188" cy="3489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0144" y="933449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6B6D4"/>
              </a:gs>
              <a:gs pos="100000">
                <a:srgbClr val="14B8A6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540" y="1139992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90815" y="2152650"/>
            <a:ext cx="5410064" cy="809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525"/>
              </a:lnSpc>
              <a:spcBef>
                <a:spcPts val="0"/>
              </a:spcBef>
              <a:spcAft>
                <a:spcPts val="2080"/>
              </a:spcAft>
            </a:pPr>
            <a:r>
              <a:rPr sz="4066" b="1">
                <a:solidFill>
                  <a:srgbClr val="0C4A6E"/>
                </a:solidFill>
                <a:latin typeface="Poppins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2" y="3257550"/>
            <a:ext cx="1219169" cy="5715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0815" y="3619499"/>
            <a:ext cx="541006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3120"/>
              </a:spcAft>
            </a:pPr>
            <a:r>
              <a:rPr sz="1794" b="0">
                <a:solidFill>
                  <a:srgbClr val="334155"/>
                </a:solidFill>
                <a:latin typeface="Inter"/>
              </a:rPr>
              <a:t>Questions &amp; Discussion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67033" y="44196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1330" y="456533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38519" y="4514850"/>
            <a:ext cx="18573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Inter"/>
              </a:rPr>
              <a:t>contact@mira-ai.health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639" y="44196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4937" y="455104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72125" y="4514850"/>
            <a:ext cx="155253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75569"/>
                </a:solidFill>
                <a:latin typeface="Inter"/>
              </a:rPr>
              <a:t>www.mira-ai.health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0815" y="5334000"/>
            <a:ext cx="5410064" cy="590549"/>
          </a:xfrm>
          <a:prstGeom prst="roundRect">
            <a:avLst>
              <a:gd name="adj" fmla="val 38709"/>
            </a:avLst>
          </a:prstGeom>
          <a:solidFill>
            <a:srgbClr val="FFFFFF">
              <a:alpha val="7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5132" y="5505450"/>
            <a:ext cx="47814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4748B"/>
                </a:solidFill>
                <a:latin typeface="Inter"/>
              </a:rPr>
              <a:t>Transforming Healthcare with AI-Powered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30000">
                <a:srgbClr val="06B6D4"/>
              </a:gs>
              <a:gs pos="70000">
                <a:srgbClr val="0EA5E9"/>
              </a:gs>
              <a:gs pos="100000">
                <a:srgbClr val="14B8A6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94</cp:revision>
  <dcterms:created xsi:type="dcterms:W3CDTF">2013-01-27T09:14:16Z</dcterms:created>
  <dcterms:modified xsi:type="dcterms:W3CDTF">2026-03-06T08:57:21Z</dcterms:modified>
  <cp:category/>
</cp:coreProperties>
</file>